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8" r:id="rId2"/>
    <p:sldId id="28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70" r:id="rId11"/>
    <p:sldId id="271" r:id="rId12"/>
    <p:sldId id="272" r:id="rId13"/>
    <p:sldId id="273" r:id="rId14"/>
    <p:sldId id="274" r:id="rId15"/>
    <p:sldId id="275" r:id="rId16"/>
    <p:sldId id="277" r:id="rId17"/>
    <p:sldId id="278" r:id="rId18"/>
    <p:sldId id="276" r:id="rId19"/>
    <p:sldId id="279" r:id="rId20"/>
    <p:sldId id="263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66" r:id="rId29"/>
    <p:sldId id="267" r:id="rId30"/>
    <p:sldId id="268" r:id="rId31"/>
    <p:sldId id="269" r:id="rId32"/>
    <p:sldId id="290" r:id="rId33"/>
    <p:sldId id="289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82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CE577-968D-E066-E900-F72FADE46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2170793"/>
            <a:ext cx="7772400" cy="1470025"/>
          </a:xfrm>
        </p:spPr>
        <p:txBody>
          <a:bodyPr/>
          <a:lstStyle/>
          <a:p>
            <a:r>
              <a:rPr lang="en-IN" dirty="0"/>
              <a:t>IBM University Engagement Project Submission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0F0190-9C76-C95D-DE9A-B1013B832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/>
          <a:lstStyle/>
          <a:p>
            <a:r>
              <a:rPr lang="en-IN" dirty="0"/>
              <a:t>“Exploring the Power of Agentic AI with IBM Granite and IBM Bob”</a:t>
            </a:r>
          </a:p>
        </p:txBody>
      </p:sp>
    </p:spTree>
    <p:extLst>
      <p:ext uri="{BB962C8B-B14F-4D97-AF65-F5344CB8AC3E}">
        <p14:creationId xmlns:p14="http://schemas.microsoft.com/office/powerpoint/2010/main" val="2689684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6B2BDE-6580-C527-5813-C6520DB99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6F774D-DCB4-F4AA-2933-8D70B07EF4F4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1945EC-9971-9F3E-2B0D-11723AD86666}"/>
              </a:ext>
            </a:extLst>
          </p:cNvPr>
          <p:cNvSpPr txBox="1"/>
          <p:nvPr/>
        </p:nvSpPr>
        <p:spPr>
          <a:xfrm>
            <a:off x="1866502" y="320040"/>
            <a:ext cx="7459158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IN" sz="2800" dirty="0"/>
              <a:t>Project Tile – </a:t>
            </a:r>
            <a:r>
              <a:rPr lang="en-IN" sz="2800" b="1" dirty="0">
                <a:solidFill>
                  <a:srgbClr val="1E232A"/>
                </a:solidFill>
                <a:latin typeface="Arial"/>
              </a:rPr>
              <a:t>Smart Home Energy Advisor</a:t>
            </a:r>
          </a:p>
          <a:p>
            <a:r>
              <a:rPr lang="en-IN" sz="2800" dirty="0"/>
              <a:t> Domain of Project – Electronics/Electrical</a:t>
            </a:r>
            <a:endParaRPr sz="2800" b="1" dirty="0">
              <a:solidFill>
                <a:srgbClr val="1E232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544C8E-329C-1420-7CE3-9985B4971FE2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2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6CEBE8-B592-4B15-2DB5-1FF21E3860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192319"/>
              </p:ext>
            </p:extLst>
          </p:nvPr>
        </p:nvGraphicFramePr>
        <p:xfrm>
          <a:off x="1675740" y="2417837"/>
          <a:ext cx="8128000" cy="297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4374818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8067764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7551311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99064199"/>
                    </a:ext>
                  </a:extLst>
                </a:gridCol>
              </a:tblGrid>
              <a:tr h="928130">
                <a:tc>
                  <a:txBody>
                    <a:bodyPr/>
                    <a:lstStyle/>
                    <a:p>
                      <a:r>
                        <a:rPr lang="en-IN" dirty="0"/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Passport Photo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Email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Mobile number [WhatsApp]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869734"/>
                  </a:ext>
                </a:extLst>
              </a:tr>
              <a:tr h="2045430">
                <a:tc>
                  <a:txBody>
                    <a:bodyPr/>
                    <a:lstStyle/>
                    <a:p>
                      <a:r>
                        <a:rPr lang="en-IN" dirty="0"/>
                        <a:t>Amey Naik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drameynaik@gmail.com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9503149315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685533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46735EC-1399-B70B-9F57-AAC7BC255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581" y="3417437"/>
            <a:ext cx="1506840" cy="1973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748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1E232A"/>
                </a:solidFill>
                <a:latin typeface="Arial"/>
              </a:rPr>
              <a:t>Smart Home Energy Advisor</a:t>
            </a:r>
          </a:p>
          <a:p>
            <a:pPr algn="ctr">
              <a:spcBef>
                <a:spcPts val="1000"/>
              </a:spcBef>
            </a:pPr>
            <a:r>
              <a:rPr sz="2000" b="0" dirty="0">
                <a:solidFill>
                  <a:srgbClr val="5A646E"/>
                </a:solidFill>
                <a:latin typeface="Arial"/>
              </a:rPr>
              <a:t>AI-Powered MCP Server for Intelligent Home Energy Management</a:t>
            </a:r>
          </a:p>
          <a:p>
            <a:pPr algn="ctr">
              <a:spcBef>
                <a:spcPts val="1000"/>
              </a:spcBef>
            </a:pPr>
            <a:r>
              <a:rPr sz="2000" b="0" dirty="0">
                <a:solidFill>
                  <a:srgbClr val="5A646E"/>
                </a:solidFill>
                <a:latin typeface="Arial"/>
              </a:rPr>
              <a:t>Progress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0520" y="3977639"/>
            <a:ext cx="3886200" cy="1051560"/>
          </a:xfrm>
          <a:prstGeom prst="roundRect">
            <a:avLst/>
          </a:prstGeom>
          <a:solidFill>
            <a:srgbClr val="F2F6F9"/>
          </a:solidFill>
          <a:ln>
            <a:solidFill>
              <a:srgbClr val="235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35F91"/>
                </a:solidFill>
                <a:latin typeface="Arial"/>
              </a:rPr>
              <a:t>MCP • AI • Smart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232A"/>
                </a:solidFill>
                <a:latin typeface="Arial"/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 dirty="0">
                <a:solidFill>
                  <a:srgbClr val="1E232A"/>
                </a:solidFill>
                <a:latin typeface="Arial"/>
              </a:rPr>
              <a:t>Transforms raw smart meter data into actionable energy intelligence.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 dirty="0">
                <a:solidFill>
                  <a:srgbClr val="1E232A"/>
                </a:solidFill>
                <a:latin typeface="Arial"/>
              </a:rPr>
              <a:t>Enables natural-language questions and data-driven recommendations.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 dirty="0">
                <a:solidFill>
                  <a:srgbClr val="1E232A"/>
                </a:solidFill>
                <a:latin typeface="Arial"/>
              </a:rPr>
              <a:t>Supports cost </a:t>
            </a:r>
            <a:r>
              <a:rPr sz="2000" b="0" dirty="0" err="1">
                <a:solidFill>
                  <a:srgbClr val="1E232A"/>
                </a:solidFill>
                <a:latin typeface="Arial"/>
              </a:rPr>
              <a:t>optimisation</a:t>
            </a:r>
            <a:r>
              <a:rPr sz="2000" b="0" dirty="0">
                <a:solidFill>
                  <a:srgbClr val="1E232A"/>
                </a:solidFill>
                <a:latin typeface="Arial"/>
              </a:rPr>
              <a:t>, anomaly detection, and appliance scheduling.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 dirty="0">
                <a:solidFill>
                  <a:srgbClr val="1E232A"/>
                </a:solidFill>
                <a:latin typeface="Arial"/>
              </a:rPr>
              <a:t>Runs as a lightweight Node.js process with zero cloud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232A"/>
                </a:solidFill>
                <a:latin typeface="Arial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Energy costs are increasingly volatile and difficult for households to explain.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Smart meters produce large volumes of data but often provide limited actionable insight.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Shiftable appliances may operate during expensive tariff periods.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Consumption anomalies can remain unnoticed until the monthly bill arrives.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Traditional REST integrations require significant manual AI orchestration.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232A"/>
                </a:solidFill>
                <a:latin typeface="Arial"/>
              </a:rPr>
              <a:t>Objectives &amp;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Conversational AI interface for plain-English energy questions.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Tariff-aware optimisation across flat, time-of-use and dynamic pricing.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Three anomaly strategies: spike, sustained-high and overnight drain.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Real-time meter reading ingestion with immediate analysis updates.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Lightweight deployment using a single Node.js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232A"/>
                </a:solidFill>
                <a:latin typeface="Arial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TypeScript + Node.js MCP server.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Entry point registers 8 tools and 1 conversational prompt.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In-memory meter store contains readings and appliance data.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Pure analysis engine provides usage, bill, scheduling and anomaly functions.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Standalone dashboard provides a visual companion.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232A"/>
                </a:solidFill>
                <a:latin typeface="Arial"/>
              </a:rPr>
              <a:t>Data Flow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AI host sends an energy question through the MCP server.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The server retrieves meter data and invokes the required analysis function.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Tariff information is used for cost calculations where required.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Results are returned as structured data and presented through the AI assistant.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232A"/>
                </a:solidFill>
                <a:latin typeface="Arial"/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TypeScript 5.5 — primary development language.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Node.js 22 — runtime environment.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Model Context Protocol (MCP) — AI integration and tool exposure.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Zod 4.2 — runtime schema validation.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ES Modules and stdio JSON-RPC transport.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Vanilla HTML/CSS/JavaScript — standalone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D1C5E-DB09-94E2-56F3-453D4E040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C78FE4-4C95-09CC-6435-1207041D05FF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AE58ED-1605-47ED-BE86-35F1CA9C7A14}"/>
              </a:ext>
            </a:extLst>
          </p:cNvPr>
          <p:cNvSpPr txBox="1"/>
          <p:nvPr/>
        </p:nvSpPr>
        <p:spPr>
          <a:xfrm>
            <a:off x="594360" y="320040"/>
            <a:ext cx="39004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IN" sz="2800" b="1" dirty="0">
                <a:solidFill>
                  <a:srgbClr val="1E232A"/>
                </a:solidFill>
                <a:latin typeface="Arial"/>
              </a:rPr>
              <a:t>IBM Bob Screenshots</a:t>
            </a:r>
            <a:endParaRPr sz="2800" b="1" dirty="0">
              <a:solidFill>
                <a:srgbClr val="1E232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02F14B-36FA-AB11-FD49-A160FD274728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E1E880-614F-DE70-0BE9-14D45F6C8D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28"/>
          <a:stretch>
            <a:fillRect/>
          </a:stretch>
        </p:blipFill>
        <p:spPr bwMode="auto">
          <a:xfrm>
            <a:off x="3124200" y="1843087"/>
            <a:ext cx="5943600" cy="31718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72497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278B3D-A4E0-EEAD-AC1E-E176DD573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A6D35B-DD56-E78E-FE1E-F854DE48D0D5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E79F3E-F93E-9E4B-B736-271B4EF5F1AC}"/>
              </a:ext>
            </a:extLst>
          </p:cNvPr>
          <p:cNvSpPr txBox="1"/>
          <p:nvPr/>
        </p:nvSpPr>
        <p:spPr>
          <a:xfrm>
            <a:off x="594360" y="320040"/>
            <a:ext cx="51203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IN" sz="2800" b="1" dirty="0">
                <a:solidFill>
                  <a:srgbClr val="1E232A"/>
                </a:solidFill>
                <a:latin typeface="Arial"/>
              </a:rPr>
              <a:t>IBM Bob Screenshots(</a:t>
            </a:r>
            <a:r>
              <a:rPr lang="en-IN" sz="2800" b="1" dirty="0" err="1">
                <a:solidFill>
                  <a:srgbClr val="1E232A"/>
                </a:solidFill>
                <a:latin typeface="Arial"/>
              </a:rPr>
              <a:t>contd</a:t>
            </a:r>
            <a:r>
              <a:rPr lang="en-IN" sz="2800" b="1" dirty="0">
                <a:solidFill>
                  <a:srgbClr val="1E232A"/>
                </a:solidFill>
                <a:latin typeface="Arial"/>
              </a:rPr>
              <a:t>)</a:t>
            </a:r>
            <a:endParaRPr sz="2800" b="1" dirty="0">
              <a:solidFill>
                <a:srgbClr val="1E232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3B0BF6-578F-663B-2D8C-0E9E4BEBC304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EDEC17-86E6-993D-6971-2452010D03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843"/>
          <a:stretch>
            <a:fillRect/>
          </a:stretch>
        </p:blipFill>
        <p:spPr bwMode="auto">
          <a:xfrm>
            <a:off x="3124200" y="1838325"/>
            <a:ext cx="5943600" cy="31813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34327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10FCA0-59E2-8F75-C132-265745370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7F63E9-1D49-1C64-27FB-84811529F14A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81DD45-7061-E4C5-812A-FC33237230F7}"/>
              </a:ext>
            </a:extLst>
          </p:cNvPr>
          <p:cNvSpPr txBox="1"/>
          <p:nvPr/>
        </p:nvSpPr>
        <p:spPr>
          <a:xfrm>
            <a:off x="594360" y="320040"/>
            <a:ext cx="51203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IN" sz="2800" b="1" dirty="0">
                <a:solidFill>
                  <a:srgbClr val="1E232A"/>
                </a:solidFill>
                <a:latin typeface="Arial"/>
              </a:rPr>
              <a:t>IBM Bob Screenshots(</a:t>
            </a:r>
            <a:r>
              <a:rPr lang="en-IN" sz="2800" b="1" dirty="0" err="1">
                <a:solidFill>
                  <a:srgbClr val="1E232A"/>
                </a:solidFill>
                <a:latin typeface="Arial"/>
              </a:rPr>
              <a:t>contd</a:t>
            </a:r>
            <a:r>
              <a:rPr lang="en-IN" sz="2800" b="1" dirty="0">
                <a:solidFill>
                  <a:srgbClr val="1E232A"/>
                </a:solidFill>
                <a:latin typeface="Arial"/>
              </a:rPr>
              <a:t>)</a:t>
            </a:r>
            <a:endParaRPr sz="2800" b="1" dirty="0">
              <a:solidFill>
                <a:srgbClr val="1E232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1CF60-84A6-EB82-F67A-C8CF007C8AF7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B5A9DF-BADF-43D0-E600-861A4D9E07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28"/>
          <a:stretch>
            <a:fillRect/>
          </a:stretch>
        </p:blipFill>
        <p:spPr bwMode="auto">
          <a:xfrm>
            <a:off x="3124200" y="1843087"/>
            <a:ext cx="5943600" cy="31718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25231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DD914-0215-05BF-5717-7500D9DD5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0E845E-3F09-4348-25C6-7D099CF0D511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979543-A9D3-7F68-C5E0-149D1438D4A4}"/>
              </a:ext>
            </a:extLst>
          </p:cNvPr>
          <p:cNvSpPr txBox="1"/>
          <p:nvPr/>
        </p:nvSpPr>
        <p:spPr>
          <a:xfrm>
            <a:off x="594360" y="320040"/>
            <a:ext cx="51203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IN" sz="2800" b="1" dirty="0">
                <a:solidFill>
                  <a:srgbClr val="1E232A"/>
                </a:solidFill>
                <a:latin typeface="Arial"/>
              </a:rPr>
              <a:t>IBM Bob Screenshots(</a:t>
            </a:r>
            <a:r>
              <a:rPr lang="en-IN" sz="2800" b="1" dirty="0" err="1">
                <a:solidFill>
                  <a:srgbClr val="1E232A"/>
                </a:solidFill>
                <a:latin typeface="Arial"/>
              </a:rPr>
              <a:t>contd</a:t>
            </a:r>
            <a:r>
              <a:rPr lang="en-IN" sz="2800" b="1" dirty="0">
                <a:solidFill>
                  <a:srgbClr val="1E232A"/>
                </a:solidFill>
                <a:latin typeface="Arial"/>
              </a:rPr>
              <a:t>)</a:t>
            </a:r>
            <a:endParaRPr sz="2800" b="1" dirty="0">
              <a:solidFill>
                <a:srgbClr val="1E232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CD76A6-6E3C-A1D0-3CDD-A4464866EDB6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FF3706-1B6C-CB65-0498-17B048A577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698"/>
          <a:stretch>
            <a:fillRect/>
          </a:stretch>
        </p:blipFill>
        <p:spPr bwMode="auto">
          <a:xfrm>
            <a:off x="3124200" y="1852612"/>
            <a:ext cx="5943600" cy="31527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30610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5E4BA7-D285-54B9-9C6C-2B9368DDB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1D95E3-22B3-EEAB-8CA3-ADEC5ACDB3A5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1D1F4F-9F93-B26E-DD56-A5E6817BC545}"/>
              </a:ext>
            </a:extLst>
          </p:cNvPr>
          <p:cNvSpPr txBox="1"/>
          <p:nvPr/>
        </p:nvSpPr>
        <p:spPr>
          <a:xfrm>
            <a:off x="594360" y="320040"/>
            <a:ext cx="51203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IN" sz="2800" b="1" dirty="0">
                <a:solidFill>
                  <a:srgbClr val="1E232A"/>
                </a:solidFill>
                <a:latin typeface="Arial"/>
              </a:rPr>
              <a:t>IBM Bob Screenshots(</a:t>
            </a:r>
            <a:r>
              <a:rPr lang="en-IN" sz="2800" b="1" dirty="0" err="1">
                <a:solidFill>
                  <a:srgbClr val="1E232A"/>
                </a:solidFill>
                <a:latin typeface="Arial"/>
              </a:rPr>
              <a:t>contd</a:t>
            </a:r>
            <a:r>
              <a:rPr lang="en-IN" sz="2800" b="1" dirty="0">
                <a:solidFill>
                  <a:srgbClr val="1E232A"/>
                </a:solidFill>
                <a:latin typeface="Arial"/>
              </a:rPr>
              <a:t>)</a:t>
            </a:r>
            <a:endParaRPr sz="2800" b="1" dirty="0">
              <a:solidFill>
                <a:srgbClr val="1E232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D03DD-210E-FB48-FA93-39A32ECFA931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7AC609-905A-3AA0-5EF3-3467B47C05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698"/>
          <a:stretch>
            <a:fillRect/>
          </a:stretch>
        </p:blipFill>
        <p:spPr bwMode="auto">
          <a:xfrm>
            <a:off x="3124200" y="1852612"/>
            <a:ext cx="5943600" cy="31527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61861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835A8-E80E-C421-4600-FE30FBCA7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E9C992-EC20-B0C2-703B-BB20BFEED95F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FDDA6D-993F-6B19-4F08-C4964B944808}"/>
              </a:ext>
            </a:extLst>
          </p:cNvPr>
          <p:cNvSpPr txBox="1"/>
          <p:nvPr/>
        </p:nvSpPr>
        <p:spPr>
          <a:xfrm>
            <a:off x="594360" y="320040"/>
            <a:ext cx="51203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IN" sz="2800" b="1" dirty="0">
                <a:solidFill>
                  <a:srgbClr val="1E232A"/>
                </a:solidFill>
                <a:latin typeface="Arial"/>
              </a:rPr>
              <a:t>IBM Bob Screenshots(</a:t>
            </a:r>
            <a:r>
              <a:rPr lang="en-IN" sz="2800" b="1" dirty="0" err="1">
                <a:solidFill>
                  <a:srgbClr val="1E232A"/>
                </a:solidFill>
                <a:latin typeface="Arial"/>
              </a:rPr>
              <a:t>contd</a:t>
            </a:r>
            <a:r>
              <a:rPr lang="en-IN" sz="2800" b="1" dirty="0">
                <a:solidFill>
                  <a:srgbClr val="1E232A"/>
                </a:solidFill>
                <a:latin typeface="Arial"/>
              </a:rPr>
              <a:t>)</a:t>
            </a:r>
            <a:endParaRPr sz="2800" b="1" dirty="0">
              <a:solidFill>
                <a:srgbClr val="1E232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031333-081D-D359-59E8-A566F9021664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CA73F3-9154-9168-A697-7BC0BBE9C6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698"/>
          <a:stretch>
            <a:fillRect/>
          </a:stretch>
        </p:blipFill>
        <p:spPr bwMode="auto">
          <a:xfrm>
            <a:off x="3124200" y="1852612"/>
            <a:ext cx="5943600" cy="31527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0024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09095A-1B88-3CD5-5015-D728DEA1B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D82B0A-08AD-74FA-5794-57461155BD87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2757D0-BB5C-144D-ACF6-CCDA68F0CCA7}"/>
              </a:ext>
            </a:extLst>
          </p:cNvPr>
          <p:cNvSpPr txBox="1"/>
          <p:nvPr/>
        </p:nvSpPr>
        <p:spPr>
          <a:xfrm>
            <a:off x="594360" y="320040"/>
            <a:ext cx="51203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IN" sz="2800" b="1" dirty="0">
                <a:solidFill>
                  <a:srgbClr val="1E232A"/>
                </a:solidFill>
                <a:latin typeface="Arial"/>
              </a:rPr>
              <a:t>IBM Bob Screenshots(</a:t>
            </a:r>
            <a:r>
              <a:rPr lang="en-IN" sz="2800" b="1" dirty="0" err="1">
                <a:solidFill>
                  <a:srgbClr val="1E232A"/>
                </a:solidFill>
                <a:latin typeface="Arial"/>
              </a:rPr>
              <a:t>contd</a:t>
            </a:r>
            <a:r>
              <a:rPr lang="en-IN" sz="2800" b="1" dirty="0">
                <a:solidFill>
                  <a:srgbClr val="1E232A"/>
                </a:solidFill>
                <a:latin typeface="Arial"/>
              </a:rPr>
              <a:t>)</a:t>
            </a:r>
            <a:endParaRPr sz="2800" b="1" dirty="0">
              <a:solidFill>
                <a:srgbClr val="1E232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9CCF21-0B59-1042-3D67-265F89E256B1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1EDAA5-0345-AA24-DFBA-907B2C011D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13"/>
          <a:stretch>
            <a:fillRect/>
          </a:stretch>
        </p:blipFill>
        <p:spPr bwMode="auto">
          <a:xfrm>
            <a:off x="3124200" y="1847850"/>
            <a:ext cx="5943600" cy="31623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15833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0C7B50-F3B2-D9B6-8CEB-BDBBB491E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961636-7228-9D5C-ADB9-0E76A306215E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511CE8-96B3-48CD-94D2-39F64BF35016}"/>
              </a:ext>
            </a:extLst>
          </p:cNvPr>
          <p:cNvSpPr txBox="1"/>
          <p:nvPr/>
        </p:nvSpPr>
        <p:spPr>
          <a:xfrm>
            <a:off x="594360" y="320040"/>
            <a:ext cx="51203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IN" sz="2800" b="1" dirty="0">
                <a:solidFill>
                  <a:srgbClr val="1E232A"/>
                </a:solidFill>
                <a:latin typeface="Arial"/>
              </a:rPr>
              <a:t>IBM Bob Screenshots(</a:t>
            </a:r>
            <a:r>
              <a:rPr lang="en-IN" sz="2800" b="1" dirty="0" err="1">
                <a:solidFill>
                  <a:srgbClr val="1E232A"/>
                </a:solidFill>
                <a:latin typeface="Arial"/>
              </a:rPr>
              <a:t>contd</a:t>
            </a:r>
            <a:r>
              <a:rPr lang="en-IN" sz="2800" b="1" dirty="0">
                <a:solidFill>
                  <a:srgbClr val="1E232A"/>
                </a:solidFill>
                <a:latin typeface="Arial"/>
              </a:rPr>
              <a:t>)</a:t>
            </a:r>
            <a:endParaRPr sz="2800" b="1" dirty="0">
              <a:solidFill>
                <a:srgbClr val="1E232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AC0A28-4F33-256A-F677-233B2A9F077E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9A07B7-8A91-0776-5B74-AB56B77193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13"/>
          <a:stretch>
            <a:fillRect/>
          </a:stretch>
        </p:blipFill>
        <p:spPr bwMode="auto">
          <a:xfrm>
            <a:off x="3124200" y="1847850"/>
            <a:ext cx="5943600" cy="31623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52664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BB10D0-0435-3C2C-889C-4AE0ADAFC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F838BF-4681-A952-E227-48A404F37E5F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CB87FF-17D0-1170-A1B6-40D7DFC2EB72}"/>
              </a:ext>
            </a:extLst>
          </p:cNvPr>
          <p:cNvSpPr txBox="1"/>
          <p:nvPr/>
        </p:nvSpPr>
        <p:spPr>
          <a:xfrm>
            <a:off x="594360" y="320040"/>
            <a:ext cx="51203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IN" sz="2800" b="1" dirty="0">
                <a:solidFill>
                  <a:srgbClr val="1E232A"/>
                </a:solidFill>
                <a:latin typeface="Arial"/>
              </a:rPr>
              <a:t>IBM Bob Screenshots(</a:t>
            </a:r>
            <a:r>
              <a:rPr lang="en-IN" sz="2800" b="1" dirty="0" err="1">
                <a:solidFill>
                  <a:srgbClr val="1E232A"/>
                </a:solidFill>
                <a:latin typeface="Arial"/>
              </a:rPr>
              <a:t>contd</a:t>
            </a:r>
            <a:r>
              <a:rPr lang="en-IN" sz="2800" b="1" dirty="0">
                <a:solidFill>
                  <a:srgbClr val="1E232A"/>
                </a:solidFill>
                <a:latin typeface="Arial"/>
              </a:rPr>
              <a:t>)</a:t>
            </a:r>
            <a:endParaRPr sz="2800" b="1" dirty="0">
              <a:solidFill>
                <a:srgbClr val="1E232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0EF15-3CF2-3B4A-856F-2C3B3B3C0D1C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66D6F4-4402-E327-9442-4FB7C4626A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83"/>
          <a:stretch>
            <a:fillRect/>
          </a:stretch>
        </p:blipFill>
        <p:spPr bwMode="auto">
          <a:xfrm>
            <a:off x="3124200" y="1857375"/>
            <a:ext cx="5943600" cy="31432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30559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EBE687-7943-02C8-2C05-1A7732C78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36CA21-6DDC-6A5B-39C0-E0FE8BCFEDB0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A863A3-649C-17E8-C082-FB3745842DB9}"/>
              </a:ext>
            </a:extLst>
          </p:cNvPr>
          <p:cNvSpPr txBox="1"/>
          <p:nvPr/>
        </p:nvSpPr>
        <p:spPr>
          <a:xfrm>
            <a:off x="594360" y="320040"/>
            <a:ext cx="51203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IN" sz="2800" b="1" dirty="0">
                <a:solidFill>
                  <a:srgbClr val="1E232A"/>
                </a:solidFill>
                <a:latin typeface="Arial"/>
              </a:rPr>
              <a:t>IBM Bob Screenshots(</a:t>
            </a:r>
            <a:r>
              <a:rPr lang="en-IN" sz="2800" b="1" dirty="0" err="1">
                <a:solidFill>
                  <a:srgbClr val="1E232A"/>
                </a:solidFill>
                <a:latin typeface="Arial"/>
              </a:rPr>
              <a:t>contd</a:t>
            </a:r>
            <a:r>
              <a:rPr lang="en-IN" sz="2800" b="1" dirty="0">
                <a:solidFill>
                  <a:srgbClr val="1E232A"/>
                </a:solidFill>
                <a:latin typeface="Arial"/>
              </a:rPr>
              <a:t>)</a:t>
            </a:r>
            <a:endParaRPr sz="2800" b="1" dirty="0">
              <a:solidFill>
                <a:srgbClr val="1E232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994C96-3017-B6D6-9042-3B258A876C60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25A677-9C30-63B0-DA30-B608EDDBC3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28"/>
          <a:stretch>
            <a:fillRect/>
          </a:stretch>
        </p:blipFill>
        <p:spPr bwMode="auto">
          <a:xfrm>
            <a:off x="3124200" y="1843087"/>
            <a:ext cx="5943600" cy="31718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75249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232A"/>
                </a:solidFill>
                <a:latin typeface="Arial"/>
              </a:rPr>
              <a:t>MCP Tools &amp;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The server exposes 8 tools and 1 conversational prompt.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The AI agent interprets the user's intent and selects the appropriate tool.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Complex questions can be handled through multi-step tool chaining.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The energy_advisor prompt pre-loads usage context and active anomalies.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The add_meter_reading tool supports a reactive perceive → analyse → notify loop.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8DA4AD-7FF4-8624-1C29-0265836F8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1EDF52-4A89-212F-1461-E865F846079B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A41CE3-BE80-4F6E-EC10-2ADE8513E0B1}"/>
              </a:ext>
            </a:extLst>
          </p:cNvPr>
          <p:cNvSpPr txBox="1"/>
          <p:nvPr/>
        </p:nvSpPr>
        <p:spPr>
          <a:xfrm>
            <a:off x="594360" y="320040"/>
            <a:ext cx="36615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1E232A"/>
                </a:solidFill>
                <a:latin typeface="Arial"/>
              </a:rPr>
              <a:t>Project Screenshots</a:t>
            </a:r>
            <a:endParaRPr sz="2800" b="1" dirty="0">
              <a:solidFill>
                <a:srgbClr val="1E232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5F7B3-8709-EF99-BFFB-394E4EC8C1DE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E66DC2-2E9C-2934-B213-FDCEA6674D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28"/>
          <a:stretch>
            <a:fillRect/>
          </a:stretch>
        </p:blipFill>
        <p:spPr bwMode="auto">
          <a:xfrm>
            <a:off x="3124200" y="1843087"/>
            <a:ext cx="5943600" cy="31718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07818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B0A733-4B32-7EA1-E378-2E680076B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70AB3F-8DBC-C8B1-CCC7-AEEC322166F4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956EB1-2548-C89D-0CB3-49E45C0477F5}"/>
              </a:ext>
            </a:extLst>
          </p:cNvPr>
          <p:cNvSpPr txBox="1"/>
          <p:nvPr/>
        </p:nvSpPr>
        <p:spPr>
          <a:xfrm>
            <a:off x="594360" y="320040"/>
            <a:ext cx="48814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1E232A"/>
                </a:solidFill>
                <a:latin typeface="Arial"/>
              </a:rPr>
              <a:t>Project Screenshots(</a:t>
            </a:r>
            <a:r>
              <a:rPr lang="en-IN" sz="2800" b="1" dirty="0" err="1">
                <a:solidFill>
                  <a:srgbClr val="1E232A"/>
                </a:solidFill>
                <a:latin typeface="Arial"/>
              </a:rPr>
              <a:t>contd</a:t>
            </a:r>
            <a:r>
              <a:rPr lang="en-IN" sz="2800" b="1" dirty="0">
                <a:solidFill>
                  <a:srgbClr val="1E232A"/>
                </a:solidFill>
                <a:latin typeface="Arial"/>
              </a:rPr>
              <a:t>)</a:t>
            </a:r>
            <a:endParaRPr sz="2800" b="1" dirty="0">
              <a:solidFill>
                <a:srgbClr val="1E232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0EB10B-1D2C-5095-FE88-1666F67F9844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F65B52-CD08-EA3A-8B47-20349275BF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13"/>
          <a:stretch>
            <a:fillRect/>
          </a:stretch>
        </p:blipFill>
        <p:spPr bwMode="auto">
          <a:xfrm>
            <a:off x="3124200" y="1847850"/>
            <a:ext cx="5943600" cy="31623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66056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3F53A2-18AB-8336-54C2-9B9BA15EC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239661-15C6-212F-C038-2AEDC4B39F68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6196E0-9037-61A1-110C-D82080324186}"/>
              </a:ext>
            </a:extLst>
          </p:cNvPr>
          <p:cNvSpPr txBox="1"/>
          <p:nvPr/>
        </p:nvSpPr>
        <p:spPr>
          <a:xfrm>
            <a:off x="594360" y="320040"/>
            <a:ext cx="48814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1E232A"/>
                </a:solidFill>
                <a:latin typeface="Arial"/>
              </a:rPr>
              <a:t>Project Screenshots(</a:t>
            </a:r>
            <a:r>
              <a:rPr lang="en-IN" sz="2800" b="1" dirty="0" err="1">
                <a:solidFill>
                  <a:srgbClr val="1E232A"/>
                </a:solidFill>
                <a:latin typeface="Arial"/>
              </a:rPr>
              <a:t>contd</a:t>
            </a:r>
            <a:r>
              <a:rPr lang="en-IN" sz="2800" b="1" dirty="0">
                <a:solidFill>
                  <a:srgbClr val="1E232A"/>
                </a:solidFill>
                <a:latin typeface="Arial"/>
              </a:rPr>
              <a:t>)</a:t>
            </a:r>
            <a:endParaRPr sz="2800" b="1" dirty="0">
              <a:solidFill>
                <a:srgbClr val="1E232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F0C2DC-DB77-EC1B-87D8-FD704579E96C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B0CD85-80B6-AC89-73A6-C41EF1DD88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128"/>
          <a:stretch>
            <a:fillRect/>
          </a:stretch>
        </p:blipFill>
        <p:spPr bwMode="auto">
          <a:xfrm>
            <a:off x="3124200" y="1843087"/>
            <a:ext cx="5943600" cy="31718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316008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464A61-7B5E-C6A1-798A-7D2F13B67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D89EDE-DC3F-1771-3B9B-0B9E8AEB0DF4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F36F46-946F-B510-8F8C-F088E60B048C}"/>
              </a:ext>
            </a:extLst>
          </p:cNvPr>
          <p:cNvSpPr txBox="1"/>
          <p:nvPr/>
        </p:nvSpPr>
        <p:spPr>
          <a:xfrm>
            <a:off x="594360" y="320040"/>
            <a:ext cx="48814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1E232A"/>
                </a:solidFill>
                <a:latin typeface="Arial"/>
              </a:rPr>
              <a:t>Project Screenshots(</a:t>
            </a:r>
            <a:r>
              <a:rPr lang="en-IN" sz="2800" b="1" dirty="0" err="1">
                <a:solidFill>
                  <a:srgbClr val="1E232A"/>
                </a:solidFill>
                <a:latin typeface="Arial"/>
              </a:rPr>
              <a:t>contd</a:t>
            </a:r>
            <a:r>
              <a:rPr lang="en-IN" sz="2800" b="1" dirty="0">
                <a:solidFill>
                  <a:srgbClr val="1E232A"/>
                </a:solidFill>
                <a:latin typeface="Arial"/>
              </a:rPr>
              <a:t>)</a:t>
            </a:r>
            <a:endParaRPr sz="2800" b="1" dirty="0">
              <a:solidFill>
                <a:srgbClr val="1E232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B45601-90F3-AC9A-D8A4-F38D02DF2914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BAE27A-DCBE-D5D6-D8A0-858A713760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13"/>
          <a:stretch>
            <a:fillRect/>
          </a:stretch>
        </p:blipFill>
        <p:spPr bwMode="auto">
          <a:xfrm>
            <a:off x="3124200" y="1847850"/>
            <a:ext cx="5943600" cy="31623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65739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CA5EB6-137E-11DD-E469-31CF058A1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5C7DA4-7FBB-9C47-63F3-2FF60BF05458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BFFBC6-5C5C-6178-F868-6ED20E9300B1}"/>
              </a:ext>
            </a:extLst>
          </p:cNvPr>
          <p:cNvSpPr txBox="1"/>
          <p:nvPr/>
        </p:nvSpPr>
        <p:spPr>
          <a:xfrm>
            <a:off x="594360" y="320040"/>
            <a:ext cx="48814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1E232A"/>
                </a:solidFill>
                <a:latin typeface="Arial"/>
              </a:rPr>
              <a:t>Project Screenshots(</a:t>
            </a:r>
            <a:r>
              <a:rPr lang="en-IN" sz="2800" b="1" dirty="0" err="1">
                <a:solidFill>
                  <a:srgbClr val="1E232A"/>
                </a:solidFill>
                <a:latin typeface="Arial"/>
              </a:rPr>
              <a:t>contd</a:t>
            </a:r>
            <a:r>
              <a:rPr lang="en-IN" sz="2800" b="1" dirty="0">
                <a:solidFill>
                  <a:srgbClr val="1E232A"/>
                </a:solidFill>
                <a:latin typeface="Arial"/>
              </a:rPr>
              <a:t>)</a:t>
            </a:r>
            <a:endParaRPr sz="2800" b="1" dirty="0">
              <a:solidFill>
                <a:srgbClr val="1E232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848B8-1094-3080-0E64-3AFBF8E4FD59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EB4ABF-77C5-0A2F-B210-0245770539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13"/>
          <a:stretch>
            <a:fillRect/>
          </a:stretch>
        </p:blipFill>
        <p:spPr bwMode="auto">
          <a:xfrm>
            <a:off x="3124200" y="1847850"/>
            <a:ext cx="5943600" cy="31623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420523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B7CC21-D1D6-F503-2C3E-12A2EB49B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C78CCA-25F9-0A3B-B505-1B5F309E9DB1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941A2F-9B53-E1AC-AA91-263AF1B07CEF}"/>
              </a:ext>
            </a:extLst>
          </p:cNvPr>
          <p:cNvSpPr txBox="1"/>
          <p:nvPr/>
        </p:nvSpPr>
        <p:spPr>
          <a:xfrm>
            <a:off x="594360" y="320040"/>
            <a:ext cx="48814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1E232A"/>
                </a:solidFill>
                <a:latin typeface="Arial"/>
              </a:rPr>
              <a:t>Project Screenshots(</a:t>
            </a:r>
            <a:r>
              <a:rPr lang="en-IN" sz="2800" b="1" dirty="0" err="1">
                <a:solidFill>
                  <a:srgbClr val="1E232A"/>
                </a:solidFill>
                <a:latin typeface="Arial"/>
              </a:rPr>
              <a:t>contd</a:t>
            </a:r>
            <a:r>
              <a:rPr lang="en-IN" sz="2800" b="1" dirty="0">
                <a:solidFill>
                  <a:srgbClr val="1E232A"/>
                </a:solidFill>
                <a:latin typeface="Arial"/>
              </a:rPr>
              <a:t>)</a:t>
            </a:r>
            <a:endParaRPr sz="2800" b="1" dirty="0">
              <a:solidFill>
                <a:srgbClr val="1E232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CA2C7-9B80-00B7-D39E-1176503768C2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6C7C02-DE94-60C2-D406-BEFE1FC7A2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13"/>
          <a:stretch>
            <a:fillRect/>
          </a:stretch>
        </p:blipFill>
        <p:spPr bwMode="auto">
          <a:xfrm>
            <a:off x="3124200" y="1847850"/>
            <a:ext cx="5943600" cy="31623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46637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B7451-D20C-4BAE-3E3E-167F79B3D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9CD8C1-8864-CC46-0F71-207321695079}"/>
              </a:ext>
            </a:extLst>
          </p:cNvPr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DA946B-8365-0673-52A6-0529AC03EA71}"/>
              </a:ext>
            </a:extLst>
          </p:cNvPr>
          <p:cNvSpPr txBox="1"/>
          <p:nvPr/>
        </p:nvSpPr>
        <p:spPr>
          <a:xfrm>
            <a:off x="594360" y="320040"/>
            <a:ext cx="48814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1E232A"/>
                </a:solidFill>
                <a:latin typeface="Arial"/>
              </a:rPr>
              <a:t>Project Screenshots(</a:t>
            </a:r>
            <a:r>
              <a:rPr lang="en-IN" sz="2800" b="1" dirty="0" err="1">
                <a:solidFill>
                  <a:srgbClr val="1E232A"/>
                </a:solidFill>
                <a:latin typeface="Arial"/>
              </a:rPr>
              <a:t>contd</a:t>
            </a:r>
            <a:r>
              <a:rPr lang="en-IN" sz="2800" b="1" dirty="0">
                <a:solidFill>
                  <a:srgbClr val="1E232A"/>
                </a:solidFill>
                <a:latin typeface="Arial"/>
              </a:rPr>
              <a:t>)</a:t>
            </a:r>
            <a:endParaRPr sz="2800" b="1" dirty="0">
              <a:solidFill>
                <a:srgbClr val="1E232A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23257E-2BD7-ED70-E653-52BEFAC9994D}"/>
              </a:ext>
            </a:extLst>
          </p:cNvPr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A51572-2EC3-7BE4-D788-EFF6ADE0A1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698"/>
          <a:stretch>
            <a:fillRect/>
          </a:stretch>
        </p:blipFill>
        <p:spPr bwMode="auto">
          <a:xfrm>
            <a:off x="3124200" y="1852612"/>
            <a:ext cx="5943600" cy="31527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9662976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232A"/>
                </a:solidFill>
                <a:latin typeface="Arial"/>
              </a:rPr>
              <a:t>Project Screenshots — AI Assistant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478" y="1143000"/>
            <a:ext cx="895003" cy="4343400"/>
          </a:xfrm>
          <a:prstGeom prst="rect">
            <a:avLst/>
          </a:prstGeom>
        </p:spPr>
      </p:pic>
      <p:pic>
        <p:nvPicPr>
          <p:cNvPr id="5" name="Picture 4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551863"/>
            <a:ext cx="5440680" cy="15256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62356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E232A"/>
                </a:solidFill>
                <a:latin typeface="Arial"/>
              </a:rPr>
              <a:t>AI Assistant provides conversational, data-grounded energy guidance.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E232A"/>
                </a:solidFill>
                <a:latin typeface="Arial"/>
              </a:rPr>
              <a:t>Users can ask questions about bills, scheduling, savings and consumption.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232A"/>
                </a:solidFill>
                <a:latin typeface="Arial"/>
              </a:rPr>
              <a:t>Results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Converts meter readings into understandable recommendations.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Makes tariff savings visible at the appliance level.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Detects multiple categories of abnormal consumption.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Provides an AI-friendly, self-describing interface through MCP.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Can operate locally without a database, web server or cloud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232A"/>
                </a:solidFill>
                <a:latin typeface="Arial"/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The project demonstrates an agentic approach to smart-home energy management.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MCP provides the bridge between household data and AI reasoning.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The current implementation uses synthetic demo readings and an in-memory store.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Future development can extend the solution toward richer real-world integrations and deployment scenarios.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3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E232A"/>
                </a:solidFill>
                <a:latin typeface="Arial"/>
              </a:rPr>
              <a:t>GitHub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5212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Project source code and documentation: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2000" b="0">
                <a:solidFill>
                  <a:srgbClr val="1E232A"/>
                </a:solidFill>
                <a:latin typeface="Arial"/>
              </a:rPr>
              <a:t>https://github.com/amey05081999/Edunet-IBM_Watsonx-Internship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5A646E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735B4F-0C76-B0BB-6871-B7BE977DD0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567" r="32402" b="7013"/>
          <a:stretch>
            <a:fillRect/>
          </a:stretch>
        </p:blipFill>
        <p:spPr>
          <a:xfrm>
            <a:off x="1757548" y="911431"/>
            <a:ext cx="8241475" cy="503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391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744DCF-D8FA-1207-2FE4-ADAA6A13CA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06" t="9351" r="22760" b="22597"/>
          <a:stretch>
            <a:fillRect/>
          </a:stretch>
        </p:blipFill>
        <p:spPr>
          <a:xfrm>
            <a:off x="3170712" y="641268"/>
            <a:ext cx="6246420" cy="46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8153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709</Words>
  <Application>Microsoft Office PowerPoint</Application>
  <PresentationFormat>Widescreen</PresentationFormat>
  <Paragraphs>120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IBM University Engagement Project Submission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Amey Naik</cp:lastModifiedBy>
  <cp:revision>3</cp:revision>
  <dcterms:created xsi:type="dcterms:W3CDTF">2013-01-27T09:14:16Z</dcterms:created>
  <dcterms:modified xsi:type="dcterms:W3CDTF">2026-09-10T17:04:31Z</dcterms:modified>
  <cp:category/>
</cp:coreProperties>
</file>